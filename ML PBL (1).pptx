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30D7BA-9A48-4253-AE36-189B1D27C9E0}">
  <a:tblStyle styleId="{C730D7BA-9A48-4253-AE36-189B1D27C9E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Lato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6b882508c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6b882508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6b882508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6b882508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6b882508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6b88250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6c1b4b6d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6c1b4b6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6c1b4b6d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6c1b4b6d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9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32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1712" y="3290887"/>
            <a:ext cx="76485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80498" y="2367487"/>
            <a:ext cx="803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3A1A"/>
                </a:solidFill>
                <a:latin typeface="Poppins"/>
                <a:ea typeface="Poppins"/>
                <a:cs typeface="Poppins"/>
                <a:sym typeface="Poppins"/>
              </a:rPr>
              <a:t>Crop Disease Detection and Fertilizer Recommendation System</a:t>
            </a:r>
            <a:endParaRPr sz="3000"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38" y="15014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271712" y="3662362"/>
            <a:ext cx="764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Presented by:</a:t>
            </a: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 V Abhiram - 23R11A66P3</a:t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95587"/>
            <a:ext cx="509587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95587"/>
            <a:ext cx="50958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52525" y="3186112"/>
            <a:ext cx="45305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Agricultural Crisis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52525" y="3633787"/>
            <a:ext cx="4314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Crop diseases cause global yield losses. Manual diagnosis is </a:t>
            </a: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subjective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slow. Farmers lack data-driven recommendation systems for fertilizer optimization.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186112"/>
            <a:ext cx="45305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Theoretical Gaps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633787"/>
            <a:ext cx="4314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Limited research exists on integrating Deep Learning with </a:t>
            </a:r>
            <a:r>
              <a:rPr b="1" i="0" lang="en-US" sz="135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Explainable AI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 agriculture. There is a need for transparent, automated decision support.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Problem Domain &amp; Motivation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47912"/>
            <a:ext cx="336545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47912"/>
            <a:ext cx="336545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47912"/>
            <a:ext cx="336545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037908" y="3424237"/>
            <a:ext cx="2813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Deep Vision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04900" y="3871912"/>
            <a:ext cx="26796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Apply CNN architectures to multi-class Recognition of 59 crop-disease pairs via hierarchical feature extraction.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89109" y="3424237"/>
            <a:ext cx="2813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Ensemble Logic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756100" y="3871912"/>
            <a:ext cx="26796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 AdaBoost for weighted error correction across heterogeneous feature sets (Soil, Crop, Environment).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340309" y="3424237"/>
            <a:ext cx="2813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Interpretable AI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07300" y="3871912"/>
            <a:ext cx="26796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Utilize SHAP framework to provide mathematical transparency via feature attribution for end-user trust.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16050" y="27384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826" y="27384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8451" y="27384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Objectives &amp; Goals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2147887"/>
            <a:ext cx="5095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architecture follows key design principles :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Modularity, Interpretability, and Scalability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190625" y="2833687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CNN Pipeline: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Feature extraction from raw pixel data.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90625" y="3290887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Engineering: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Scaling and encoding for tabular processing.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190550" y="3943462"/>
            <a:ext cx="46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AdaBoost: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Iterative ensemble prediction engine.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90625" y="4338937"/>
            <a:ext cx="46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SHAP Layer: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Calculation of feature attribution scores.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8622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3194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7713" y="39351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7713" y="43306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System Architecture &amp; Design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17"/>
          <p:cNvGraphicFramePr/>
          <p:nvPr/>
        </p:nvGraphicFramePr>
        <p:xfrm>
          <a:off x="762000" y="2362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{C730D7BA-9A48-4253-AE36-189B1D27C9E0}</a:tableStyleId>
              </a:tblPr>
              <a:tblGrid>
                <a:gridCol w="2039400"/>
                <a:gridCol w="4207225"/>
                <a:gridCol w="4421375"/>
              </a:tblGrid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CNN Dataset (Image)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AdaBoost Dataset (Tabular)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5A27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Sample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61,955 RGB Images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10,000 Data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59 Disease Categories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Heterogeneous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Theory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Invariance &amp; Pattern Recognition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 Interaction &amp; Attribution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Challenges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 Imbalance &amp; Overfitting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Numeric/Categorical Encoding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17"/>
          <p:cNvSpPr/>
          <p:nvPr/>
        </p:nvSpPr>
        <p:spPr>
          <a:xfrm>
            <a:off x="762000" y="3557587"/>
            <a:ext cx="2039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2801391" y="3557587"/>
            <a:ext cx="42072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008614" y="3557587"/>
            <a:ext cx="4421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62000" y="4167187"/>
            <a:ext cx="2039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801391" y="4167187"/>
            <a:ext cx="42072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008614" y="4167187"/>
            <a:ext cx="4421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62000" y="4776787"/>
            <a:ext cx="2039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801391" y="4776787"/>
            <a:ext cx="42072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008614" y="4776787"/>
            <a:ext cx="4421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62000" y="5386387"/>
            <a:ext cx="20393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801391" y="5386387"/>
            <a:ext cx="42072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008614" y="5386387"/>
            <a:ext cx="44213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Dataset Theoretical Considerations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1976437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Hierarchical Structure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190625" y="2252662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Convolution: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Local connectivity &amp; parameter sharing.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90625" y="2709862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MaxPooling: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Translation invariance &amp; efficiency.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90625" y="3167062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Dropout (0.25):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Regularization to prevent neuron co-adaptation.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190625" y="3910012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Softmax: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Probability distribution for multi-class labels.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2812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7384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195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9385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CNN Architecture 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95587"/>
            <a:ext cx="509587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95587"/>
            <a:ext cx="50958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152525" y="3186112"/>
            <a:ext cx="45305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Low to Mid Level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152525" y="3633787"/>
            <a:ext cx="4314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Early layers focus on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Local Patterns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edges, textures, and color gradients. Mid-layers identify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Complex Shapes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such as leaf venation or necrotic spots.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24650" y="3186112"/>
            <a:ext cx="45305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High Level Representation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24650" y="3633787"/>
            <a:ext cx="4314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Deep layers capture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Semantic Concepts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object parts and global structures. This progressive abstraction mimics biological vision for robust classification.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Feature Extraction Learning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33687"/>
            <a:ext cx="5095875" cy="120788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762000" y="2147887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AdaBoost combines multiple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Weak Learners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(Decision Trees) into 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Strong Learner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via weighted iteration.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4213026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Sample weights are increased for misclassified instances, forcing the ensemble to focus on "hard" cases.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85962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000125" y="3195637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Learner Weight Calculation:</a:t>
            </a:r>
            <a:endParaRPr/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3548062"/>
            <a:ext cx="4667250" cy="30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AdaBoost Ensemble Framework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605950" y="665575"/>
            <a:ext cx="106110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50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Why only SHAP? Explainability Framework from Game Theory</a:t>
            </a:r>
            <a:endParaRPr b="1" sz="2850">
              <a:solidFill>
                <a:srgbClr val="2D5A2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525" y="1907950"/>
            <a:ext cx="10666400" cy="12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1048050" y="2917300"/>
            <a:ext cx="9140700" cy="29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Model Compatibility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Works with AdaBoost (model-agnostic)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Applicable to both CNN &amp; tabular models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• Interpretability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Clearly explains </a:t>
            </a:r>
            <a:r>
              <a:rPr i="1" lang="en-US" sz="1300">
                <a:solidFill>
                  <a:schemeClr val="dk1"/>
                </a:solidFill>
              </a:rPr>
              <a:t>why</a:t>
            </a:r>
            <a:r>
              <a:rPr lang="en-US" sz="1300">
                <a:solidFill>
                  <a:schemeClr val="dk1"/>
                </a:solidFill>
              </a:rPr>
              <a:t> a recommendation is made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Provides feature-level impact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• Fairness &amp; Transparency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Unbiased feature contribution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Improves overall system transparency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• Trust &amp; Reliability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Builds farmer confidence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Strong theoretical base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5835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/>
          <p:nvPr/>
        </p:nvSpPr>
        <p:spPr>
          <a:xfrm>
            <a:off x="762000" y="3862387"/>
            <a:ext cx="10668000" cy="381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713995" y="4357687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CNN Stage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762000" y="4843462"/>
            <a:ext cx="192018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Image input to disease classification via Deep Learning.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2900875" y="1976437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2948880" y="2462212"/>
            <a:ext cx="192018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Merging crop type with user-provided soil metadata.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087756" y="4357687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Ensemble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135760" y="4843462"/>
            <a:ext cx="192018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AdaBoost predicts optimal fertilizer recommendation.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7274636" y="1976437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Explain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7322641" y="2462212"/>
            <a:ext cx="192018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SHAP generates attribution scores for the outcome.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9461517" y="4357687"/>
            <a:ext cx="20161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9509521" y="4843462"/>
            <a:ext cx="19201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Interpretable result provided to the end-user.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System Integration &amp; Workflow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1607790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3794670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5981551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8168431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10355312" y="3767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76500"/>
            <a:ext cx="33654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76500"/>
            <a:ext cx="33654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76500"/>
            <a:ext cx="336545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037908" y="3552825"/>
            <a:ext cx="2813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Multi-Paradigm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104900" y="4000500"/>
            <a:ext cx="26796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Seamless integration of Deep Vision (CNN) and Tabular Ensemble (AdaBoost) frameworks.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4689109" y="3552825"/>
            <a:ext cx="2813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Domain XAI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4756100" y="4000500"/>
            <a:ext cx="26796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Applying Shapley Values to Agri-Tech for validated transparency in farm-level advice.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8340309" y="3552825"/>
            <a:ext cx="2813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Robustness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8407300" y="4000500"/>
            <a:ext cx="26796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Practical application of Augmentation theory to stabilize performance in varied field lighting.</a:t>
            </a:r>
            <a:endParaRPr/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16050" y="2867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251" y="2867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8451" y="28670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Theoretical Contributions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8" name="Google Shape;268;p26"/>
          <p:cNvGraphicFramePr/>
          <p:nvPr/>
        </p:nvGraphicFramePr>
        <p:xfrm>
          <a:off x="762000" y="2057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{C730D7BA-9A48-4253-AE36-189B1D27C9E0}</a:tableStyleId>
              </a:tblPr>
              <a:tblGrid>
                <a:gridCol w="3015250"/>
                <a:gridCol w="7652750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Challenge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5A27"/>
                    </a:solidFill>
                  </a:tcPr>
                </a:tc>
              </a:tr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Overfitting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Dropout &amp; Early Stopping Regularization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 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StandardScaler (Mean=0, Std=1) normalization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Kernel Sampling &amp; Approximation in SHAP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Heterogeneity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Multi-modal Label &amp; One-Hot Encoding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Progressive Filter Depth (32 → 64 → 128)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9" name="Google Shape;269;p26"/>
          <p:cNvSpPr/>
          <p:nvPr/>
        </p:nvSpPr>
        <p:spPr>
          <a:xfrm>
            <a:off x="762000" y="3252787"/>
            <a:ext cx="30152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3777257" y="3252787"/>
            <a:ext cx="7652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762000" y="3862387"/>
            <a:ext cx="30152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777257" y="3862387"/>
            <a:ext cx="7652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762000" y="4471987"/>
            <a:ext cx="30152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3777257" y="4471987"/>
            <a:ext cx="7652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762000" y="5081587"/>
            <a:ext cx="30152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3777257" y="5081587"/>
            <a:ext cx="7652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762000" y="5691187"/>
            <a:ext cx="30152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3777257" y="5691187"/>
            <a:ext cx="7652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Implementation Challenges</a:t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95587"/>
            <a:ext cx="509587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95587"/>
            <a:ext cx="50958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/>
          <p:nvPr/>
        </p:nvSpPr>
        <p:spPr>
          <a:xfrm>
            <a:off x="1152525" y="3186112"/>
            <a:ext cx="45305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CNN vs. Baseline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1152525" y="3633787"/>
            <a:ext cx="4314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CNN leverages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Parameter Sharing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Hierarchical Learning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outperforming SVM and KNN which fail to capture spatial hierarchies in image data.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6724650" y="3186112"/>
            <a:ext cx="45305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SHAP vs. LIME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6724650" y="3633787"/>
            <a:ext cx="4314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LIME's local linear approximations, SHAP satisfies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Efficiency &amp; Symmetry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axioms, ensuring globally consistent feature importance across all predictions.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952500" y="571500"/>
            <a:ext cx="11001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5A27"/>
                </a:solidFill>
                <a:latin typeface="Poppins"/>
                <a:ea typeface="Poppins"/>
                <a:cs typeface="Poppins"/>
                <a:sym typeface="Poppins"/>
              </a:rPr>
              <a:t>Comparative Analysis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762000" y="571500"/>
            <a:ext cx="76200" cy="6191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51"/>
            <a:ext cx="12192001" cy="6885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